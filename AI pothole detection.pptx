
<file path=[Content_Types].xml><?xml version="1.0" encoding="utf-8"?>
<Types xmlns="http://schemas.openxmlformats.org/package/2006/content-types">
  <Default Extension="jpeg" ContentType="image/jpeg"/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6" r:id="rId10"/>
    <p:sldId id="267" r:id="rId11"/>
    <p:sldId id="268" r:id="rId12"/>
    <p:sldId id="269" r:id="rId13"/>
    <p:sldId id="271" r:id="rId14"/>
    <p:sldId id="272" r:id="rId15"/>
    <p:sldId id="27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E5769D-6974-AB67-8AF5-CEE95A7F3FCE}" v="233" dt="2025-04-09T04:54:27.958"/>
    <p1510:client id="{B81266F6-B093-8142-B046-E9C49CAA0D08}" v="15" dt="2025-04-08T23:37:53.777"/>
    <p1510:client id="{CE9E05D5-D941-0F53-7695-410802B856C9}" v="293" dt="2025-04-09T03:39:33.816"/>
    <p1510:client id="{FFA0FCA8-D90A-1F9A-CD8C-3492B94C1415}" v="425" dt="2025-04-09T04:36:48.8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364009-C788-5A4F-B419-4C76596DA05D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615A7C-ABA4-6C43-A1E0-7FAC0EF13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314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615A7C-ABA4-6C43-A1E0-7FAC0EF1324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069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3B3A3-549F-E242-BEF3-944249C7DAB7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04B8D-02A4-1C42-A181-E4C752207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166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3B3A3-549F-E242-BEF3-944249C7DAB7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04B8D-02A4-1C42-A181-E4C752207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621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3B3A3-549F-E242-BEF3-944249C7DAB7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04B8D-02A4-1C42-A181-E4C752207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941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3B3A3-549F-E242-BEF3-944249C7DAB7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04B8D-02A4-1C42-A181-E4C752207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507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3B3A3-549F-E242-BEF3-944249C7DAB7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04B8D-02A4-1C42-A181-E4C752207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532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3B3A3-549F-E242-BEF3-944249C7DAB7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04B8D-02A4-1C42-A181-E4C752207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350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3B3A3-549F-E242-BEF3-944249C7DAB7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04B8D-02A4-1C42-A181-E4C752207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007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3B3A3-549F-E242-BEF3-944249C7DAB7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04B8D-02A4-1C42-A181-E4C752207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854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C5E3B3A3-549F-E242-BEF3-944249C7DAB7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64C04B8D-02A4-1C42-A181-E4C752207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23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3B3A3-549F-E242-BEF3-944249C7DAB7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04B8D-02A4-1C42-A181-E4C752207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282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3B3A3-549F-E242-BEF3-944249C7DAB7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04B8D-02A4-1C42-A181-E4C752207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0148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3B3A3-549F-E242-BEF3-944249C7DAB7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04B8D-02A4-1C42-A181-E4C752207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966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3B3A3-549F-E242-BEF3-944249C7DAB7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04B8D-02A4-1C42-A181-E4C752207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0999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3B3A3-549F-E242-BEF3-944249C7DAB7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04B8D-02A4-1C42-A181-E4C752207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943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5E3B3A3-549F-E242-BEF3-944249C7DAB7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64C04B8D-02A4-1C42-A181-E4C752207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6781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3CFD93B-DC37-C7E9-2011-DA156E5A4388}"/>
              </a:ext>
            </a:extLst>
          </p:cNvPr>
          <p:cNvSpPr/>
          <p:nvPr/>
        </p:nvSpPr>
        <p:spPr>
          <a:xfrm>
            <a:off x="1148022" y="2471129"/>
            <a:ext cx="9895951" cy="103366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25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GREEN AND SUSTAINABLE INTEGRATED WITH IOT IN AUTOMATIOMN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dirty="0"/>
              <a:t>GREEN AND SUSTAINABLE INTEGRATED WITH IOT IN AUTOMATIOMN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5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7AE7F8C-7756-6916-F267-6CDD2DE99A3C}"/>
              </a:ext>
            </a:extLst>
          </p:cNvPr>
          <p:cNvSpPr/>
          <p:nvPr/>
        </p:nvSpPr>
        <p:spPr>
          <a:xfrm>
            <a:off x="9026013" y="5348748"/>
            <a:ext cx="2920181" cy="120936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IN" dirty="0"/>
              <a:t>By:</a:t>
            </a:r>
          </a:p>
          <a:p>
            <a:pPr algn="r"/>
            <a:r>
              <a:rPr lang="en-IN" dirty="0"/>
              <a:t>L.Sanjayan</a:t>
            </a:r>
          </a:p>
        </p:txBody>
      </p:sp>
    </p:spTree>
    <p:extLst>
      <p:ext uri="{BB962C8B-B14F-4D97-AF65-F5344CB8AC3E}">
        <p14:creationId xmlns:p14="http://schemas.microsoft.com/office/powerpoint/2010/main" val="3605041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erial view of the road">
            <a:extLst>
              <a:ext uri="{FF2B5EF4-FFF2-40B4-BE49-F238E27FC236}">
                <a16:creationId xmlns:a16="http://schemas.microsoft.com/office/drawing/2014/main" id="{637F0EE2-82FB-2B27-0504-0B0E5CF6CB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712" b="17288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724CBA-CA3D-4F15-AA78-6677C48D9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576" y="795528"/>
            <a:ext cx="3511296" cy="300837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4800"/>
              <a:t>Aerial Road Surface Inspection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3689F9-5C38-1EE1-69BF-8AF0FC85E943}"/>
              </a:ext>
            </a:extLst>
          </p:cNvPr>
          <p:cNvSpPr/>
          <p:nvPr/>
        </p:nvSpPr>
        <p:spPr>
          <a:xfrm>
            <a:off x="5329238" y="795528"/>
            <a:ext cx="6064186" cy="506377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/>
              <a:t>Why This Project?</a:t>
            </a:r>
            <a:endParaRPr lang="en-IN" b="1"/>
          </a:p>
          <a:p>
            <a:endParaRPr lang="en-IN" b="1"/>
          </a:p>
          <a:p>
            <a:r>
              <a:rPr lang="en-IN" b="1"/>
              <a:t>Poorly maintained roads</a:t>
            </a:r>
            <a:r>
              <a:rPr lang="en-IN"/>
              <a:t> affect safety and vehicle performance.</a:t>
            </a:r>
          </a:p>
          <a:p>
            <a:endParaRPr lang="en-IN"/>
          </a:p>
          <a:p>
            <a:r>
              <a:rPr lang="en-IN" b="1"/>
              <a:t>Manual pothole inspection</a:t>
            </a:r>
            <a:r>
              <a:rPr lang="en-IN"/>
              <a:t> is inefficient, costly, and prone to human error.</a:t>
            </a:r>
          </a:p>
          <a:p>
            <a:endParaRPr lang="en-IN"/>
          </a:p>
          <a:p>
            <a:r>
              <a:rPr lang="en-IN"/>
              <a:t>During monsoon seasons, </a:t>
            </a:r>
            <a:r>
              <a:rPr lang="en-IN" b="1"/>
              <a:t>hidden potholes lead to skids, accidents, and infrastructure degradation.</a:t>
            </a:r>
          </a:p>
          <a:p>
            <a:endParaRPr lang="en-IN"/>
          </a:p>
          <a:p>
            <a:r>
              <a:rPr lang="en-IN"/>
              <a:t>No system exists that performs </a:t>
            </a:r>
            <a:r>
              <a:rPr lang="en-IN" b="1"/>
              <a:t>real-time aerial mapping and severity-level detection</a:t>
            </a:r>
            <a:r>
              <a:rPr lang="en-IN"/>
              <a:t>.</a:t>
            </a:r>
          </a:p>
          <a:p>
            <a:endParaRPr lang="en-IN"/>
          </a:p>
          <a:p>
            <a:r>
              <a:rPr lang="en-IN"/>
              <a:t>Current drones are limited by </a:t>
            </a:r>
            <a:r>
              <a:rPr lang="en-IN" b="1"/>
              <a:t>short battery life and payload capacity</a:t>
            </a:r>
            <a:r>
              <a:rPr lang="en-IN"/>
              <a:t>.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473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37093-CADC-2EAD-E313-D15CA1758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Cost-Effective &amp; Effective Monitoring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FD304-977F-56C9-E526-951E61ECC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06546" cy="4351338"/>
          </a:xfrm>
        </p:spPr>
        <p:txBody>
          <a:bodyPr/>
          <a:lstStyle/>
          <a:p>
            <a:r>
              <a:rPr lang="en-IN" sz="2000" b="1"/>
              <a:t>Reduces manpower costs</a:t>
            </a:r>
            <a:r>
              <a:rPr lang="en-IN" sz="2000"/>
              <a:t> by automating road inspection tasks</a:t>
            </a:r>
            <a:br>
              <a:rPr lang="en-IN" sz="2000"/>
            </a:br>
            <a:r>
              <a:rPr lang="en-IN" sz="2000"/>
              <a:t>→ No need for large teams walking or driving around for manual pothole checks.</a:t>
            </a:r>
          </a:p>
          <a:p>
            <a:endParaRPr lang="en-IN" sz="2000" b="1"/>
          </a:p>
          <a:p>
            <a:r>
              <a:rPr lang="en-IN" sz="2000" b="1"/>
              <a:t>Hybrid propulsion (Battery + HAN fuel)</a:t>
            </a:r>
            <a:r>
              <a:rPr lang="en-IN" sz="2000"/>
              <a:t> allows longer flights</a:t>
            </a:r>
            <a:br>
              <a:rPr lang="en-IN" sz="2000"/>
            </a:br>
            <a:r>
              <a:rPr lang="en-IN" sz="2000"/>
              <a:t>→ Fewer flights = less recharging = less maintenance = more coverage per day.</a:t>
            </a:r>
          </a:p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05DAC7-6133-B83E-59AD-AE85F792C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0393" y="1328870"/>
            <a:ext cx="4871607" cy="26724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2CA75DD-45BB-61AE-0F87-235ECF241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0393" y="4185576"/>
            <a:ext cx="4871607" cy="2672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589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FCA2-89BB-00F3-B775-26E3DE007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The Bottlenecks in Road Safety Management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7A63B-1B17-F204-14A7-F8A600593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IN" sz="1800" b="1" dirty="0">
                <a:latin typeface="Times New Roman"/>
                <a:cs typeface="Times New Roman"/>
              </a:rPr>
              <a:t>1. Limited Coverage &amp; Inconsistent Inspections</a:t>
            </a:r>
          </a:p>
          <a:p>
            <a:r>
              <a:rPr lang="en-IN" sz="1800" b="1" dirty="0">
                <a:latin typeface="Times New Roman"/>
                <a:cs typeface="Times New Roman"/>
              </a:rPr>
              <a:t> The Problem: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/>
                <a:cs typeface="Times New Roman"/>
              </a:rPr>
              <a:t>Traditional road inspections depend on manual surveys, where workers drive or walk to visually inspect damaged areas.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/>
                <a:cs typeface="Times New Roman"/>
              </a:rPr>
              <a:t>This method is slow, inconsistent, and heavily affected by human fatigue, visibility conditions, and traffic.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/>
                <a:cs typeface="Times New Roman"/>
              </a:rPr>
              <a:t>Rural roads, narrow streets, and secondary roads often receive less attention, allowing potholes to grow unnoticed.</a:t>
            </a:r>
          </a:p>
          <a:p>
            <a:r>
              <a:rPr lang="en-IN" sz="2100" b="1" dirty="0">
                <a:latin typeface="Times New Roman"/>
                <a:cs typeface="Times New Roman"/>
              </a:rPr>
              <a:t>2. </a:t>
            </a:r>
            <a:r>
              <a:rPr lang="en-IN" sz="1900" b="1" dirty="0">
                <a:latin typeface="Times New Roman"/>
                <a:cs typeface="Times New Roman"/>
              </a:rPr>
              <a:t>Short Battery Life of Conventional Drones</a:t>
            </a:r>
          </a:p>
          <a:p>
            <a:r>
              <a:rPr lang="en-IN" sz="2100" b="1" dirty="0">
                <a:latin typeface="Times New Roman"/>
                <a:cs typeface="Times New Roman"/>
              </a:rPr>
              <a:t> The Problem: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/>
                <a:cs typeface="Times New Roman"/>
              </a:rPr>
              <a:t>Commercial drones typically use electric battery power, giving only 15–30 minutes of flight time under payload.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/>
                <a:cs typeface="Times New Roman"/>
              </a:rPr>
              <a:t>With sensors, AI modules, or thermal cameras onboard, flight time drops further.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/>
                <a:cs typeface="Times New Roman"/>
              </a:rPr>
              <a:t>This limits the area a drone can monitor per mission, requiring multiple recharges or redundant drones.</a:t>
            </a:r>
          </a:p>
          <a:p>
            <a:endParaRPr lang="en-US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19628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standing on a concrete surface&#10;&#10;Description automatically generated">
            <a:extLst>
              <a:ext uri="{FF2B5EF4-FFF2-40B4-BE49-F238E27FC236}">
                <a16:creationId xmlns:a16="http://schemas.microsoft.com/office/drawing/2014/main" id="{E876871D-FDB4-8545-1124-CAB6CA516A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2" b="19449"/>
          <a:stretch/>
        </p:blipFill>
        <p:spPr>
          <a:xfrm>
            <a:off x="192523" y="0"/>
            <a:ext cx="5804105" cy="3167426"/>
          </a:xfrm>
          <a:prstGeom prst="rect">
            <a:avLst/>
          </a:prstGeom>
        </p:spPr>
      </p:pic>
      <p:pic>
        <p:nvPicPr>
          <p:cNvPr id="11" name="Picture 10" descr="A table with numbers and text&#10;&#10;Description automatically generated">
            <a:extLst>
              <a:ext uri="{FF2B5EF4-FFF2-40B4-BE49-F238E27FC236}">
                <a16:creationId xmlns:a16="http://schemas.microsoft.com/office/drawing/2014/main" id="{A1DF7A02-7364-8950-A599-C6DA9BF846C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" b="8951"/>
          <a:stretch/>
        </p:blipFill>
        <p:spPr>
          <a:xfrm>
            <a:off x="6195373" y="171717"/>
            <a:ext cx="5797883" cy="3167426"/>
          </a:xfrm>
          <a:prstGeom prst="rect">
            <a:avLst/>
          </a:prstGeom>
        </p:spPr>
      </p:pic>
      <p:pic>
        <p:nvPicPr>
          <p:cNvPr id="13" name="Picture 12" descr="A screenshot of a news page&#10;&#10;Description automatically generated">
            <a:extLst>
              <a:ext uri="{FF2B5EF4-FFF2-40B4-BE49-F238E27FC236}">
                <a16:creationId xmlns:a16="http://schemas.microsoft.com/office/drawing/2014/main" id="{17FB05B6-F416-3DE8-6D1F-174455A3865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" b="18786"/>
          <a:stretch/>
        </p:blipFill>
        <p:spPr>
          <a:xfrm>
            <a:off x="6195372" y="3510858"/>
            <a:ext cx="5797883" cy="2789948"/>
          </a:xfrm>
          <a:prstGeom prst="rect">
            <a:avLst/>
          </a:prstGeom>
        </p:spPr>
      </p:pic>
      <p:pic>
        <p:nvPicPr>
          <p:cNvPr id="15" name="Picture 14" descr="A text on a page&#10;&#10;Description automatically generated">
            <a:extLst>
              <a:ext uri="{FF2B5EF4-FFF2-40B4-BE49-F238E27FC236}">
                <a16:creationId xmlns:a16="http://schemas.microsoft.com/office/drawing/2014/main" id="{51327D0B-FF8D-D7B3-C24B-EE60460639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339143"/>
            <a:ext cx="6195372" cy="351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697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D1D6F3-1A04-A22A-24DD-E924B0101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8" y="628915"/>
            <a:ext cx="5291666" cy="316176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E9FDDF5-7257-9D56-D02E-D78AC95B2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0719" y="628915"/>
            <a:ext cx="5291667" cy="314854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E602270-9CEB-8929-40C3-661087A45324}"/>
              </a:ext>
            </a:extLst>
          </p:cNvPr>
          <p:cNvSpPr/>
          <p:nvPr/>
        </p:nvSpPr>
        <p:spPr>
          <a:xfrm>
            <a:off x="6583217" y="4353259"/>
            <a:ext cx="4979169" cy="205047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Font typeface="Arial" panose="020B0604020202020204" pitchFamily="34" charset="0"/>
              <a:buChar char="•"/>
            </a:pPr>
            <a:r>
              <a:rPr lang="en-IN" b="1"/>
              <a:t>Battery Drone</a:t>
            </a:r>
            <a:r>
              <a:rPr lang="en-IN"/>
              <a:t>: Gains in flight time slow down as capacity increases (due to added weight and motor limits).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/>
              <a:t>Hybrid Drone</a:t>
            </a:r>
            <a:r>
              <a:rPr lang="en-IN"/>
              <a:t>: Maintains better scaling because fuel propulsion </a:t>
            </a:r>
            <a:r>
              <a:rPr lang="en-IN" b="1"/>
              <a:t>offsets battery strain</a:t>
            </a:r>
            <a:r>
              <a:rPr lang="en-IN"/>
              <a:t>, allowing longer, more efficient flights.</a:t>
            </a:r>
          </a:p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CE2A6B-234B-D664-804D-3928CC2FA86B}"/>
              </a:ext>
            </a:extLst>
          </p:cNvPr>
          <p:cNvSpPr/>
          <p:nvPr/>
        </p:nvSpPr>
        <p:spPr>
          <a:xfrm>
            <a:off x="341361" y="4353260"/>
            <a:ext cx="4926059" cy="205047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Font typeface="Arial" panose="020B0604020202020204" pitchFamily="34" charset="0"/>
              <a:buChar char="•"/>
            </a:pPr>
            <a:r>
              <a:rPr lang="en-IN"/>
              <a:t>A </a:t>
            </a:r>
            <a:r>
              <a:rPr lang="en-IN" b="1"/>
              <a:t>battery-powered drone</a:t>
            </a:r>
            <a:r>
              <a:rPr lang="en-IN"/>
              <a:t> — slower, linear acceleration due to motor limits</a:t>
            </a:r>
          </a:p>
          <a:p>
            <a:endParaRPr lang="en-IN"/>
          </a:p>
          <a:p>
            <a:pPr>
              <a:buFont typeface="Arial" panose="020B0604020202020204" pitchFamily="34" charset="0"/>
              <a:buChar char="•"/>
            </a:pPr>
            <a:r>
              <a:rPr lang="en-IN"/>
              <a:t>A </a:t>
            </a:r>
            <a:r>
              <a:rPr lang="en-IN" b="1"/>
              <a:t>hybrid drone (battery + HAN fuel)</a:t>
            </a:r>
            <a:r>
              <a:rPr lang="en-IN"/>
              <a:t> — faster acceleration due to added thrust</a:t>
            </a:r>
          </a:p>
        </p:txBody>
      </p:sp>
    </p:spTree>
    <p:extLst>
      <p:ext uri="{BB962C8B-B14F-4D97-AF65-F5344CB8AC3E}">
        <p14:creationId xmlns:p14="http://schemas.microsoft.com/office/powerpoint/2010/main" val="3531850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159858-6E0D-F12F-F1EE-5E78EBD54CC0}"/>
              </a:ext>
            </a:extLst>
          </p:cNvPr>
          <p:cNvSpPr txBox="1"/>
          <p:nvPr/>
        </p:nvSpPr>
        <p:spPr>
          <a:xfrm>
            <a:off x="774404" y="900753"/>
            <a:ext cx="1064319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/>
              <a:t> Key Components of the Solution:</a:t>
            </a:r>
          </a:p>
          <a:p>
            <a:pPr algn="ctr"/>
            <a:endParaRPr lang="en-IN" b="1"/>
          </a:p>
          <a:p>
            <a:pPr>
              <a:buFont typeface="Arial" panose="020B0604020202020204" pitchFamily="34" charset="0"/>
              <a:buChar char="•"/>
            </a:pPr>
            <a:r>
              <a:rPr lang="en-IN" b="1"/>
              <a:t>High-Resolution Camera Module</a:t>
            </a:r>
            <a:br>
              <a:rPr lang="en-IN"/>
            </a:br>
            <a:r>
              <a:rPr lang="en-IN"/>
              <a:t>Mounted on the drone to continuously capture real-time road surface imagery.</a:t>
            </a:r>
          </a:p>
          <a:p>
            <a:pPr>
              <a:buFont typeface="Arial" panose="020B0604020202020204" pitchFamily="34" charset="0"/>
              <a:buChar char="•"/>
            </a:pPr>
            <a:endParaRPr lang="en-IN"/>
          </a:p>
          <a:p>
            <a:pPr>
              <a:buFont typeface="Arial" panose="020B0604020202020204" pitchFamily="34" charset="0"/>
              <a:buChar char="•"/>
            </a:pPr>
            <a:r>
              <a:rPr lang="en-IN" b="1"/>
              <a:t>AI-Based Detection Algorithm</a:t>
            </a:r>
            <a:br>
              <a:rPr lang="en-IN"/>
            </a:br>
            <a:r>
              <a:rPr lang="en-IN"/>
              <a:t>Utilizes deep learning (YOLO/CNN) models to detect potholes with high precision and classify them into severity levels: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/>
              <a:t>Minor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/>
              <a:t>Moderate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/>
              <a:t>Severe</a:t>
            </a:r>
          </a:p>
          <a:p>
            <a:pPr lvl="1"/>
            <a:endParaRPr lang="en-IN"/>
          </a:p>
          <a:p>
            <a:pPr>
              <a:buFont typeface="Arial" panose="020B0604020202020204" pitchFamily="34" charset="0"/>
              <a:buChar char="•"/>
            </a:pPr>
            <a:r>
              <a:rPr lang="en-IN" b="1"/>
              <a:t>Severity Estimation Module</a:t>
            </a:r>
            <a:br>
              <a:rPr lang="en-IN"/>
            </a:br>
            <a:r>
              <a:rPr lang="en-IN"/>
              <a:t>Estimates pothole size and depth using image processing and area calculations to assist in repair prioritization.</a:t>
            </a:r>
          </a:p>
          <a:p>
            <a:endParaRPr lang="en-IN"/>
          </a:p>
          <a:p>
            <a:pPr>
              <a:buFont typeface="Arial" panose="020B0604020202020204" pitchFamily="34" charset="0"/>
              <a:buChar char="•"/>
            </a:pPr>
            <a:r>
              <a:rPr lang="en-IN" b="1"/>
              <a:t>Geo-Tagging System</a:t>
            </a:r>
            <a:br>
              <a:rPr lang="en-IN"/>
            </a:br>
            <a:r>
              <a:rPr lang="en-IN"/>
              <a:t>Integrates GPS data to tag the exact coordinates of detected potholes for mapping and reporting.</a:t>
            </a:r>
          </a:p>
        </p:txBody>
      </p:sp>
    </p:spTree>
    <p:extLst>
      <p:ext uri="{BB962C8B-B14F-4D97-AF65-F5344CB8AC3E}">
        <p14:creationId xmlns:p14="http://schemas.microsoft.com/office/powerpoint/2010/main" val="118308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 shot of a computer&#10;&#10;Description automatically generated">
            <a:extLst>
              <a:ext uri="{FF2B5EF4-FFF2-40B4-BE49-F238E27FC236}">
                <a16:creationId xmlns:a16="http://schemas.microsoft.com/office/drawing/2014/main" id="{6307B8F0-E940-D707-2058-A9262F6E08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" r="4" b="14236"/>
          <a:stretch/>
        </p:blipFill>
        <p:spPr>
          <a:xfrm>
            <a:off x="1346320" y="644229"/>
            <a:ext cx="3801797" cy="2560320"/>
          </a:xfrm>
          <a:prstGeom prst="rect">
            <a:avLst/>
          </a:prstGeom>
        </p:spPr>
      </p:pic>
      <p:pic>
        <p:nvPicPr>
          <p:cNvPr id="7" name="Picture 6" descr="A screen shot of a computer&#10;&#10;Description automatically generated">
            <a:extLst>
              <a:ext uri="{FF2B5EF4-FFF2-40B4-BE49-F238E27FC236}">
                <a16:creationId xmlns:a16="http://schemas.microsoft.com/office/drawing/2014/main" id="{F41A761B-4D05-B6C7-3594-62BDC55B69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85" b="-1"/>
          <a:stretch/>
        </p:blipFill>
        <p:spPr>
          <a:xfrm>
            <a:off x="7397871" y="644229"/>
            <a:ext cx="3095675" cy="2560320"/>
          </a:xfrm>
          <a:prstGeom prst="rect">
            <a:avLst/>
          </a:prstGeom>
        </p:spPr>
      </p:pic>
      <p:pic>
        <p:nvPicPr>
          <p:cNvPr id="3" name="Picture 2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24CF444D-1E37-519C-9857-92684ED06A0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259" r="-1" b="8549"/>
          <a:stretch/>
        </p:blipFill>
        <p:spPr>
          <a:xfrm>
            <a:off x="1349127" y="3653451"/>
            <a:ext cx="3796184" cy="2560320"/>
          </a:xfrm>
          <a:prstGeom prst="rect">
            <a:avLst/>
          </a:prstGeom>
        </p:spPr>
      </p:pic>
      <p:pic>
        <p:nvPicPr>
          <p:cNvPr id="10" name="Picture 9" descr="A road with a railing and a building&#10;&#10;Description automatically generated with medium confidence">
            <a:extLst>
              <a:ext uri="{FF2B5EF4-FFF2-40B4-BE49-F238E27FC236}">
                <a16:creationId xmlns:a16="http://schemas.microsoft.com/office/drawing/2014/main" id="{C495FCA0-FF89-FF4C-3738-14252C1EAE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0738" y="3672788"/>
            <a:ext cx="5069941" cy="256032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341224E-1172-00A2-2C9A-458064320720}"/>
              </a:ext>
            </a:extLst>
          </p:cNvPr>
          <p:cNvSpPr/>
          <p:nvPr/>
        </p:nvSpPr>
        <p:spPr>
          <a:xfrm>
            <a:off x="2035652" y="-1133226"/>
            <a:ext cx="8617527" cy="96981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dirty="0"/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1537422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BA1787-A809-D7D3-6828-89F2B3F54047}"/>
              </a:ext>
            </a:extLst>
          </p:cNvPr>
          <p:cNvSpPr txBox="1"/>
          <p:nvPr/>
        </p:nvSpPr>
        <p:spPr>
          <a:xfrm>
            <a:off x="308344" y="394692"/>
            <a:ext cx="11883656" cy="6586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/>
              <a:t> Solution Overview – Hybrid Drone Propulsion System</a:t>
            </a:r>
          </a:p>
          <a:p>
            <a:pPr algn="ctr"/>
            <a:endParaRPr lang="en-IN"/>
          </a:p>
          <a:p>
            <a:r>
              <a:rPr lang="en-IN" sz="1600" b="1"/>
              <a:t>Battery-Electric Propulsion (Primary):</a:t>
            </a:r>
            <a:br>
              <a:rPr lang="en-IN" sz="1600"/>
            </a:br>
            <a:r>
              <a:rPr lang="en-IN" sz="1600"/>
              <a:t>Efficient, quiet electric motors for stable hovering, scanning, and low-speed cruise.</a:t>
            </a:r>
          </a:p>
          <a:p>
            <a:endParaRPr lang="en-IN" sz="1600"/>
          </a:p>
          <a:p>
            <a:r>
              <a:rPr lang="en-IN" sz="1600" b="1"/>
              <a:t>Green Fuel-Based Booster (Secondary):</a:t>
            </a:r>
            <a:br>
              <a:rPr lang="en-IN" sz="1600"/>
            </a:br>
            <a:r>
              <a:rPr lang="en-IN" sz="1600"/>
              <a:t>A propulsion unit based on </a:t>
            </a:r>
            <a:r>
              <a:rPr lang="en-IN" sz="1600" b="1"/>
              <a:t>hydroxylammonium nitrate (HAN)</a:t>
            </a:r>
            <a:r>
              <a:rPr lang="en-IN" sz="1600"/>
              <a:t> or </a:t>
            </a:r>
            <a:r>
              <a:rPr lang="en-IN" sz="1600" b="1"/>
              <a:t>NH₂OH + NO₃⁻</a:t>
            </a:r>
            <a:r>
              <a:rPr lang="en-IN" sz="1600"/>
              <a:t>, providing extra thrust for: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/>
              <a:t>Heavy payload lift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/>
              <a:t>Fast travel between scan zones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/>
              <a:t>Emergency vertical </a:t>
            </a:r>
            <a:r>
              <a:rPr lang="en-IN" sz="1600" err="1"/>
              <a:t>takeoff</a:t>
            </a:r>
            <a:r>
              <a:rPr lang="en-IN" sz="1600"/>
              <a:t> or power boost</a:t>
            </a:r>
          </a:p>
          <a:p>
            <a:endParaRPr lang="en-IN" sz="1600"/>
          </a:p>
          <a:p>
            <a:r>
              <a:rPr lang="en-IN" sz="1600" b="1"/>
              <a:t>Flight Controller Integration:</a:t>
            </a:r>
            <a:br>
              <a:rPr lang="en-IN" sz="1600"/>
            </a:br>
            <a:r>
              <a:rPr lang="en-IN" sz="1600"/>
              <a:t>A microcontroller intelligently switches between power sources and balances usage for: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/>
              <a:t>Thrust control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/>
              <a:t>Stability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/>
              <a:t>Efficiency</a:t>
            </a:r>
          </a:p>
          <a:p>
            <a:endParaRPr lang="en-IN" sz="1600"/>
          </a:p>
          <a:p>
            <a:r>
              <a:rPr lang="en-IN" sz="1600" b="1"/>
              <a:t>Payload Optimization:</a:t>
            </a:r>
            <a:br>
              <a:rPr lang="en-IN" sz="1600"/>
            </a:br>
            <a:r>
              <a:rPr lang="en-IN" sz="1600"/>
              <a:t>The drone is equipped to carry high-resolution cameras, thermal sensors, and onboard AI without sacrificing flight time.</a:t>
            </a:r>
          </a:p>
          <a:p>
            <a:endParaRPr lang="en-IN" sz="1600"/>
          </a:p>
          <a:p>
            <a:r>
              <a:rPr lang="en-IN" sz="1600" b="1"/>
              <a:t>Aerodynamic Design:</a:t>
            </a:r>
            <a:br>
              <a:rPr lang="en-IN" sz="1600"/>
            </a:br>
            <a:r>
              <a:rPr lang="en-IN" sz="1600"/>
              <a:t>Airframe uses a </a:t>
            </a:r>
            <a:r>
              <a:rPr lang="en-IN" sz="1600" b="1"/>
              <a:t>blended wing-body shape</a:t>
            </a:r>
            <a:r>
              <a:rPr lang="en-IN" sz="1600"/>
              <a:t> for: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/>
              <a:t>Better lift-to-drag ratio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/>
              <a:t>Internal fuel tank space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/>
              <a:t>Passive stability in forward flight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745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drone with propellers on a black background&#10;&#10;Description automatically generated">
            <a:extLst>
              <a:ext uri="{FF2B5EF4-FFF2-40B4-BE49-F238E27FC236}">
                <a16:creationId xmlns:a16="http://schemas.microsoft.com/office/drawing/2014/main" id="{374E653F-1B40-BD69-3814-E210C6D83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00" y="2144209"/>
            <a:ext cx="2879083" cy="2569581"/>
          </a:xfrm>
          <a:prstGeom prst="rect">
            <a:avLst/>
          </a:prstGeom>
        </p:spPr>
      </p:pic>
      <p:pic>
        <p:nvPicPr>
          <p:cNvPr id="3" name="Picture 2" descr="A white airplane with propellers&#10;&#10;Description automatically generated">
            <a:extLst>
              <a:ext uri="{FF2B5EF4-FFF2-40B4-BE49-F238E27FC236}">
                <a16:creationId xmlns:a16="http://schemas.microsoft.com/office/drawing/2014/main" id="{F11371B7-72A9-D802-1874-641E8E3FAC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7976" y="2248560"/>
            <a:ext cx="2880360" cy="2361894"/>
          </a:xfrm>
          <a:prstGeom prst="rect">
            <a:avLst/>
          </a:prstGeom>
        </p:spPr>
      </p:pic>
      <p:pic>
        <p:nvPicPr>
          <p:cNvPr id="5" name="Picture 4" descr="A white airplane with a propeller&#10;&#10;Description automatically generated">
            <a:extLst>
              <a:ext uri="{FF2B5EF4-FFF2-40B4-BE49-F238E27FC236}">
                <a16:creationId xmlns:a16="http://schemas.microsoft.com/office/drawing/2014/main" id="{D0BBA6B7-A778-6D8D-08C6-F76E4CE8A7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941" y="2503684"/>
            <a:ext cx="2880360" cy="185063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B7CA846-2AFE-53B5-52A3-A5774B0E9496}"/>
              </a:ext>
            </a:extLst>
          </p:cNvPr>
          <p:cNvSpPr/>
          <p:nvPr/>
        </p:nvSpPr>
        <p:spPr>
          <a:xfrm>
            <a:off x="1080655" y="1094509"/>
            <a:ext cx="2646218" cy="84512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TOP VIEW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9BF76B-BB05-E969-E97F-90267614351C}"/>
              </a:ext>
            </a:extLst>
          </p:cNvPr>
          <p:cNvSpPr/>
          <p:nvPr/>
        </p:nvSpPr>
        <p:spPr>
          <a:xfrm>
            <a:off x="4806345" y="1070504"/>
            <a:ext cx="2604977" cy="8931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BOTTOM VIEW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8E1EED-DE3A-DF9D-BDC3-6EBFDA399120}"/>
              </a:ext>
            </a:extLst>
          </p:cNvPr>
          <p:cNvSpPr/>
          <p:nvPr/>
        </p:nvSpPr>
        <p:spPr>
          <a:xfrm>
            <a:off x="8554268" y="989011"/>
            <a:ext cx="2643827" cy="974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SIDE VIEW</a:t>
            </a:r>
          </a:p>
        </p:txBody>
      </p:sp>
    </p:spTree>
    <p:extLst>
      <p:ext uri="{BB962C8B-B14F-4D97-AF65-F5344CB8AC3E}">
        <p14:creationId xmlns:p14="http://schemas.microsoft.com/office/powerpoint/2010/main" val="25502868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reen Recording 2025-04-09 at 1.36.37 AM">
            <a:hlinkClick r:id="" action="ppaction://media"/>
            <a:extLst>
              <a:ext uri="{FF2B5EF4-FFF2-40B4-BE49-F238E27FC236}">
                <a16:creationId xmlns:a16="http://schemas.microsoft.com/office/drawing/2014/main" id="{F5DEBBD1-931C-5BC9-354E-40171546806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907229" y="643467"/>
            <a:ext cx="8377541" cy="55710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35507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5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42CA76-87C7-6D06-58AD-929588980B30}"/>
              </a:ext>
            </a:extLst>
          </p:cNvPr>
          <p:cNvSpPr txBox="1"/>
          <p:nvPr/>
        </p:nvSpPr>
        <p:spPr>
          <a:xfrm>
            <a:off x="404037" y="637954"/>
            <a:ext cx="1127051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/>
              <a:t>Aerodynamic Design and Shape of the Drone</a:t>
            </a:r>
          </a:p>
          <a:p>
            <a:r>
              <a:rPr lang="en-IN" b="1"/>
              <a:t>1. Shape:</a:t>
            </a:r>
          </a:p>
          <a:p>
            <a:r>
              <a:rPr lang="en-IN"/>
              <a:t>The drone has a </a:t>
            </a:r>
            <a:r>
              <a:rPr lang="en-IN" b="1"/>
              <a:t>blended-wing body</a:t>
            </a:r>
            <a:r>
              <a:rPr lang="en-IN"/>
              <a:t> or </a:t>
            </a:r>
            <a:r>
              <a:rPr lang="en-IN" b="1"/>
              <a:t>lift-body fuselage</a:t>
            </a:r>
            <a:r>
              <a:rPr lang="en-IN"/>
              <a:t> design with </a:t>
            </a:r>
            <a:r>
              <a:rPr lang="en-IN" b="1"/>
              <a:t>forward-swept wings</a:t>
            </a:r>
            <a:r>
              <a:rPr lang="en-IN"/>
              <a:t> and </a:t>
            </a:r>
            <a:r>
              <a:rPr lang="en-IN" b="1"/>
              <a:t>tilted rotors</a:t>
            </a:r>
          </a:p>
          <a:p>
            <a:endParaRPr lang="en-IN" b="1"/>
          </a:p>
          <a:p>
            <a:r>
              <a:rPr lang="en-IN"/>
              <a:t>This shape is chosen for the following reasons: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/>
              <a:t>Increased lift-to-drag ratio</a:t>
            </a:r>
            <a:endParaRPr lang="en-IN"/>
          </a:p>
          <a:p>
            <a:pPr>
              <a:buFont typeface="Arial" panose="020B0604020202020204" pitchFamily="34" charset="0"/>
              <a:buChar char="•"/>
            </a:pPr>
            <a:r>
              <a:rPr lang="en-IN" b="1"/>
              <a:t>Reduced frontal drag</a:t>
            </a:r>
            <a:endParaRPr lang="en-IN"/>
          </a:p>
          <a:p>
            <a:pPr>
              <a:buFont typeface="Arial" panose="020B0604020202020204" pitchFamily="34" charset="0"/>
              <a:buChar char="•"/>
            </a:pPr>
            <a:r>
              <a:rPr lang="en-IN" b="1"/>
              <a:t>Enhanced stability and control at high speed</a:t>
            </a:r>
            <a:endParaRPr lang="en-IN"/>
          </a:p>
          <a:p>
            <a:pPr>
              <a:buFont typeface="Arial" panose="020B0604020202020204" pitchFamily="34" charset="0"/>
              <a:buChar char="•"/>
            </a:pPr>
            <a:r>
              <a:rPr lang="en-IN" b="1"/>
              <a:t>More internal space for fuel cells, batteries, or sensors</a:t>
            </a:r>
          </a:p>
          <a:p>
            <a:endParaRPr lang="en-IN" b="1"/>
          </a:p>
          <a:p>
            <a:r>
              <a:rPr lang="en-IN" b="1"/>
              <a:t>2. Aerodynamic Advantages: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/>
              <a:t>Smooth contours</a:t>
            </a:r>
            <a:r>
              <a:rPr lang="en-IN"/>
              <a:t> reduce turbulence.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/>
              <a:t>Forward-swept wings</a:t>
            </a:r>
            <a:r>
              <a:rPr lang="en-IN"/>
              <a:t> help with </a:t>
            </a:r>
            <a:r>
              <a:rPr lang="en-IN" b="1"/>
              <a:t>better </a:t>
            </a:r>
            <a:r>
              <a:rPr lang="en-IN" b="1" err="1"/>
              <a:t>maneuverability</a:t>
            </a:r>
            <a:r>
              <a:rPr lang="en-IN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/>
              <a:t>Blended wing-fuselage</a:t>
            </a:r>
            <a:r>
              <a:rPr lang="en-IN"/>
              <a:t> increases overall lift.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/>
              <a:t>VTOL configuration</a:t>
            </a:r>
            <a:r>
              <a:rPr lang="en-IN"/>
              <a:t> with angled rotors provides lift and propulsion without the need for a runway.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/>
              <a:t>Due to effective aerodynamics we us only two wing as it have max thrust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9943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5E37FB-B54D-AEC4-B5CF-3935EA92F3E5}"/>
              </a:ext>
            </a:extLst>
          </p:cNvPr>
          <p:cNvSpPr txBox="1"/>
          <p:nvPr/>
        </p:nvSpPr>
        <p:spPr>
          <a:xfrm>
            <a:off x="928202" y="747383"/>
            <a:ext cx="1112637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WHY HAN</a:t>
            </a:r>
          </a:p>
          <a:p>
            <a:pPr algn="ctr"/>
            <a:endParaRPr lang="en-US"/>
          </a:p>
        </p:txBody>
      </p:sp>
      <p:pic>
        <p:nvPicPr>
          <p:cNvPr id="3" name="Picture 2" descr="A graph showing the difference between green and red&#10;&#10;AI-generated content may be incorrect.">
            <a:extLst>
              <a:ext uri="{FF2B5EF4-FFF2-40B4-BE49-F238E27FC236}">
                <a16:creationId xmlns:a16="http://schemas.microsoft.com/office/drawing/2014/main" id="{CA0D2D91-BBD1-76A8-7D3C-AFBE5A11F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0617" y="2279391"/>
            <a:ext cx="4795158" cy="286158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89D8BCC-3573-054D-44ED-9D45F458FCCF}"/>
              </a:ext>
            </a:extLst>
          </p:cNvPr>
          <p:cNvSpPr txBox="1"/>
          <p:nvPr/>
        </p:nvSpPr>
        <p:spPr>
          <a:xfrm>
            <a:off x="421821" y="1170214"/>
            <a:ext cx="665389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742950" lvl="1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Composed of hydroxylammonium (NH₂OH) and nitrate (NO₃</a:t>
            </a:r>
            <a:r>
              <a:rPr lang="en-US" b="1">
                <a:latin typeface="Cambria Math"/>
                <a:ea typeface="Cambria Math"/>
              </a:rPr>
              <a:t>⁻</a:t>
            </a:r>
            <a:r>
              <a:rPr lang="en-US" b="1">
                <a:ea typeface="+mn-lt"/>
                <a:cs typeface="+mn-lt"/>
              </a:rPr>
              <a:t>).</a:t>
            </a:r>
            <a:endParaRPr lang="en-US"/>
          </a:p>
          <a:p>
            <a:pPr algn="l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97470B7-5B4F-EA85-317E-3DE29B8D30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6076948"/>
              </p:ext>
            </p:extLst>
          </p:nvPr>
        </p:nvGraphicFramePr>
        <p:xfrm>
          <a:off x="-4244" y="2545389"/>
          <a:ext cx="7143549" cy="26074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1183">
                  <a:extLst>
                    <a:ext uri="{9D8B030D-6E8A-4147-A177-3AD203B41FA5}">
                      <a16:colId xmlns:a16="http://schemas.microsoft.com/office/drawing/2014/main" val="3664716779"/>
                    </a:ext>
                  </a:extLst>
                </a:gridCol>
                <a:gridCol w="2381183">
                  <a:extLst>
                    <a:ext uri="{9D8B030D-6E8A-4147-A177-3AD203B41FA5}">
                      <a16:colId xmlns:a16="http://schemas.microsoft.com/office/drawing/2014/main" val="249729143"/>
                    </a:ext>
                  </a:extLst>
                </a:gridCol>
                <a:gridCol w="2381183">
                  <a:extLst>
                    <a:ext uri="{9D8B030D-6E8A-4147-A177-3AD203B41FA5}">
                      <a16:colId xmlns:a16="http://schemas.microsoft.com/office/drawing/2014/main" val="3795348154"/>
                    </a:ext>
                  </a:extLst>
                </a:gridCol>
              </a:tblGrid>
              <a:tr h="36739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 dirty="0"/>
                        <a:t>Property / Gas Emission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 dirty="0"/>
                        <a:t>HAN-Based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 dirty="0">
                          <a:latin typeface="Aptos"/>
                        </a:rPr>
                        <a:t>Hydrazine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43235"/>
                  </a:ext>
                </a:extLst>
              </a:tr>
              <a:tr h="38582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 dirty="0">
                          <a:latin typeface="Aptos"/>
                        </a:rPr>
                        <a:t>CO (Carbon Monoxide)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&lt;5PPM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40-50 PPM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3130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 dirty="0">
                          <a:latin typeface="Aptos"/>
                        </a:rPr>
                        <a:t>NOx (Nitrogen Oxides)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20-30 PPM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100-150 PPM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3318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 dirty="0">
                          <a:latin typeface="Aptos"/>
                        </a:rPr>
                        <a:t>Unburned Hydrocarbons (UHC)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Near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80 ppm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2234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 dirty="0">
                          <a:latin typeface="Aptos"/>
                        </a:rPr>
                        <a:t>Greenhouse Gas CO₂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20 % less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5392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 dirty="0">
                          <a:latin typeface="Aptos"/>
                        </a:rPr>
                        <a:t>Acute Toxicity LD₅₀ (oral, rat)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 dirty="0">
                          <a:latin typeface="Aptos"/>
                        </a:rPr>
                        <a:t>&gt; 1000 mg/kg (Low Toxicity)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 dirty="0">
                          <a:latin typeface="Aptos"/>
                        </a:rPr>
                        <a:t>&lt; 59 mg/kg (High Toxicity)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0124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744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68753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572765F-6C06-B700-578D-8B95B9172E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3590448"/>
              </p:ext>
            </p:extLst>
          </p:nvPr>
        </p:nvGraphicFramePr>
        <p:xfrm>
          <a:off x="1581509" y="416943"/>
          <a:ext cx="9638277" cy="6199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2759">
                  <a:extLst>
                    <a:ext uri="{9D8B030D-6E8A-4147-A177-3AD203B41FA5}">
                      <a16:colId xmlns:a16="http://schemas.microsoft.com/office/drawing/2014/main" val="1474230123"/>
                    </a:ext>
                  </a:extLst>
                </a:gridCol>
                <a:gridCol w="3212759">
                  <a:extLst>
                    <a:ext uri="{9D8B030D-6E8A-4147-A177-3AD203B41FA5}">
                      <a16:colId xmlns:a16="http://schemas.microsoft.com/office/drawing/2014/main" val="2615568613"/>
                    </a:ext>
                  </a:extLst>
                </a:gridCol>
                <a:gridCol w="3212759">
                  <a:extLst>
                    <a:ext uri="{9D8B030D-6E8A-4147-A177-3AD203B41FA5}">
                      <a16:colId xmlns:a16="http://schemas.microsoft.com/office/drawing/2014/main" val="2964557837"/>
                    </a:ext>
                  </a:extLst>
                </a:gridCol>
              </a:tblGrid>
              <a:tr h="66634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Aptos"/>
                        </a:rP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Aptos"/>
                        </a:rPr>
                        <a:t>Battery-Only Drone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Hybrid Drone (Battery + HAN)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4118988"/>
                  </a:ext>
                </a:extLst>
              </a:tr>
              <a:tr h="66634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Aptos"/>
                        </a:rPr>
                        <a:t>Power Source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Aptos"/>
                        </a:rPr>
                        <a:t>Lithium-ion/Li-Po battery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/>
                        <a:t>Battery + HAN-based green propellant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7279924"/>
                  </a:ext>
                </a:extLst>
              </a:tr>
              <a:tr h="666347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/>
                        <a:t>Flight Time</a:t>
                      </a:r>
                      <a:endParaRPr lang="en-US" dirty="0"/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15–25 minutes</a:t>
                      </a:r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/>
                        <a:t>30–40+ minutes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6295293"/>
                  </a:ext>
                </a:extLst>
              </a:tr>
              <a:tr h="66634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Aptos"/>
                        </a:rPr>
                        <a:t>Payload Capacity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Limited (1–2 kg typical)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Higher (2–4 kg or more)</a:t>
                      </a:r>
                      <a:endParaRPr lang="en-US"/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8429243"/>
                  </a:ext>
                </a:extLst>
              </a:tr>
              <a:tr h="66634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Aptos"/>
                        </a:rPr>
                        <a:t>Endurance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Short missions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/>
                        <a:t>Longer missions</a:t>
                      </a:r>
                      <a:endParaRPr lang="en-US" dirty="0"/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0452364"/>
                  </a:ext>
                </a:extLst>
              </a:tr>
              <a:tr h="956065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Energy Efficiency</a:t>
                      </a:r>
                      <a:endParaRPr lang="en-US"/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Decreases with load</a:t>
                      </a:r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Optimized using smart switching between battery &amp; fuel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4909818"/>
                  </a:ext>
                </a:extLst>
              </a:tr>
              <a:tr h="956065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Thrust Surge Capability</a:t>
                      </a:r>
                      <a:endParaRPr lang="en-US"/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Low (limited to motor output)</a:t>
                      </a:r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High (fuel boost for heavy lift or speed)</a:t>
                      </a:r>
                      <a:endParaRPr lang="en-US"/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8197168"/>
                  </a:ext>
                </a:extLst>
              </a:tr>
              <a:tr h="956065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/>
                        <a:t>Thrust Surge Capability</a:t>
                      </a:r>
                      <a:endParaRPr lang="en-US" dirty="0"/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10–15 m/s average</a:t>
                      </a:r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/>
                        <a:t>15–25 m/s with burst capability</a:t>
                      </a:r>
                      <a:endParaRPr lang="en-US" dirty="0"/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13861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10276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D91ED5DA-0B88-9F3A-1F02-515235235B92}"/>
              </a:ext>
            </a:extLst>
          </p:cNvPr>
          <p:cNvSpPr/>
          <p:nvPr/>
        </p:nvSpPr>
        <p:spPr>
          <a:xfrm>
            <a:off x="3440092" y="1714666"/>
            <a:ext cx="5320347" cy="3430224"/>
          </a:xfrm>
          <a:prstGeom prst="ellips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>
                <a:latin typeface="Times New Roman"/>
                <a:cs typeface="Times New Roman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4646910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2</TotalTime>
  <Words>893</Words>
  <Application>Microsoft Office PowerPoint</Application>
  <PresentationFormat>Widescreen</PresentationFormat>
  <Paragraphs>134</Paragraphs>
  <Slides>15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Arial</vt:lpstr>
      <vt:lpstr>Cambria Math</vt:lpstr>
      <vt:lpstr>Century Gothic</vt:lpstr>
      <vt:lpstr>Times New Roman</vt:lpstr>
      <vt:lpstr>Wingdings 2</vt:lpstr>
      <vt:lpstr>Quotable</vt:lpstr>
      <vt:lpstr>PowerPoint Presentation</vt:lpstr>
      <vt:lpstr>Aerial Road Surface Inspection</vt:lpstr>
      <vt:lpstr>Cost-Effective &amp; Effective Monitoring</vt:lpstr>
      <vt:lpstr>The Bottlenecks in Road Safety Management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Kavin Kaarthik M 24BTT012</dc:creator>
  <cp:lastModifiedBy>Sanjayan L 24BMC046</cp:lastModifiedBy>
  <cp:revision>169</cp:revision>
  <dcterms:created xsi:type="dcterms:W3CDTF">2025-04-08T20:59:41Z</dcterms:created>
  <dcterms:modified xsi:type="dcterms:W3CDTF">2025-05-02T19:59:54Z</dcterms:modified>
</cp:coreProperties>
</file>